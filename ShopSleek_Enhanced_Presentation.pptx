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ShopSleek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E-commerce Platform</a:t>
            </a:r>
          </a:p>
          <a:p/>
          <a:p>
            <a:r>
              <a:t>Developed by: Hardik Kalathiya</a:t>
            </a:r>
          </a:p>
          <a:p>
            <a:r>
              <a:t>Under the Guidance of: Dr. Maitri Jhaveri</a:t>
            </a:r>
          </a:p>
          <a:p>
            <a:r>
              <a:t>Department of Computer Science</a:t>
            </a:r>
          </a:p>
          <a:p>
            <a:r>
              <a:t>Gujarat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Online shopping platform for various products</a:t>
            </a:r>
          </a:p>
          <a:p>
            <a:pPr>
              <a:defRPr sz="2400"/>
            </a:pPr>
            <a:r>
              <a:t>User registration and account management</a:t>
            </a:r>
          </a:p>
          <a:p>
            <a:pPr>
              <a:defRPr sz="2400"/>
            </a:pPr>
            <a:r>
              <a:t>Guest shopping capabilities</a:t>
            </a:r>
          </a:p>
          <a:p>
            <a:pPr>
              <a:defRPr sz="2400"/>
            </a:pPr>
            <a:r>
              <a:t>Product search and filtering</a:t>
            </a:r>
          </a:p>
          <a:p>
            <a:pPr>
              <a:defRPr sz="2400"/>
            </a:pPr>
            <a:r>
              <a:t>Shopping cart management</a:t>
            </a:r>
          </a:p>
          <a:p>
            <a:pPr>
              <a:defRPr sz="2400"/>
            </a:pPr>
            <a:r>
              <a:t>Secure checkout process</a:t>
            </a:r>
          </a:p>
          <a:p>
            <a:pPr>
              <a:defRPr sz="2400"/>
            </a:pPr>
            <a:r>
              <a:t>Order tracking</a:t>
            </a:r>
          </a:p>
          <a:p>
            <a:pPr>
              <a:defRPr sz="2400"/>
            </a:pPr>
            <a:r>
              <a:t>Admin dashboard for system management</a:t>
            </a:r>
          </a:p>
          <a:p>
            <a:pPr>
              <a:defRPr sz="2400"/>
            </a:pPr>
            <a:r>
              <a:t>Multi-vendor support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Intuitive User Interface - Clean, responsive design optimized for all devices</a:t>
            </a:r>
          </a:p>
          <a:p>
            <a:pPr>
              <a:defRPr sz="2400"/>
            </a:pPr>
            <a:r>
              <a:t>Advanced Search &amp; Filtering - Find products quickly with dynamic filtering</a:t>
            </a:r>
          </a:p>
          <a:p>
            <a:pPr>
              <a:defRPr sz="2400"/>
            </a:pPr>
            <a:r>
              <a:t>Secure Payment Processing - PCI-DSS compliant payment gateway integration</a:t>
            </a:r>
          </a:p>
          <a:p>
            <a:pPr>
              <a:defRPr sz="2400"/>
            </a:pPr>
            <a:r>
              <a:t>Order Management - Track orders from placement to delivery</a:t>
            </a:r>
          </a:p>
          <a:p>
            <a:pPr>
              <a:defRPr sz="2400"/>
            </a:pPr>
            <a:r>
              <a:t>User Accounts - Personal profiles, wishlists, and order history</a:t>
            </a:r>
          </a:p>
          <a:p>
            <a:pPr>
              <a:defRPr sz="2400"/>
            </a:pPr>
            <a:r>
              <a:t>Admin Dashboard - Complete control over products, orders, and users</a:t>
            </a:r>
          </a:p>
          <a:p>
            <a:pPr>
              <a:defRPr sz="2400"/>
            </a:pPr>
            <a:r>
              <a:t>Analytics &amp; Reporting - Sales reports, user activity, and inventory levels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2400">
                <a:solidFill>
                  <a:srgbClr val="2980B9"/>
                </a:solidFill>
              </a:defRPr>
            </a:pPr>
            <a:r>
              <a:t>Three-Tier Architecture</a:t>
            </a:r>
          </a:p>
          <a:p>
            <a:pPr algn="l">
              <a:defRPr sz="2000"/>
            </a:pPr>
            <a:r>
              <a:t>• Presentation Layer: User Interface, Admin Dashboard, Vendor Panel</a:t>
            </a:r>
          </a:p>
          <a:p>
            <a:pPr algn="l">
              <a:defRPr sz="2000"/>
            </a:pPr>
            <a:r>
              <a:t>• Application Layer: User Management, Product Management, Order Processing, Payment Gateway</a:t>
            </a:r>
          </a:p>
          <a:p>
            <a:pPr algn="l">
              <a:defRPr sz="2000"/>
            </a:pPr>
            <a:r>
              <a:t>• Data Layer: MySQL Database, File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2400">
                <a:solidFill>
                  <a:srgbClr val="2980B9"/>
                </a:solidFill>
              </a:defRPr>
            </a:pPr>
            <a:r>
              <a:t>Technology Stack</a:t>
            </a:r>
          </a:p>
          <a:p>
            <a:pPr algn="l">
              <a:defRPr sz="2000"/>
            </a:pPr>
            <a:r>
              <a:t>• Frontend: React.js, Tailwind CSS</a:t>
            </a:r>
          </a:p>
          <a:p>
            <a:pPr algn="l">
              <a:defRPr sz="2000"/>
            </a:pPr>
            <a:r>
              <a:t>• Backend: Node.js, Express.js</a:t>
            </a:r>
          </a:p>
          <a:p>
            <a:pPr algn="l">
              <a:defRPr sz="2000"/>
            </a:pPr>
            <a:r>
              <a:t>• Database: MySQL</a:t>
            </a:r>
          </a:p>
          <a:p>
            <a:pPr algn="l">
              <a:defRPr sz="2000"/>
            </a:pPr>
            <a:r>
              <a:t>• Server: Node.js</a:t>
            </a:r>
          </a:p>
          <a:p>
            <a:pPr algn="l">
              <a:defRPr sz="2000"/>
            </a:pPr>
            <a:r>
              <a:t>• Hosting: HostingRaja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3498DB"/>
                </a:solidFill>
              </a:defRPr>
            </a:pPr>
            <a:r>
              <a:t>Test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Cases - User Login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863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645920"/>
                <a:gridCol w="1554480"/>
                <a:gridCol w="1645920"/>
                <a:gridCol w="1645920"/>
                <a:gridCol w="914400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Test Steps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Test Data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Actual Result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Navigate to login page</a:t>
                      </a:r>
                    </a:p>
                    <a:p>
                      <a:pPr>
                        <a:defRPr sz="1200"/>
                      </a:pPr>
                      <a:r>
                        <a:t>2. Enter valid credentials</a:t>
                      </a:r>
                    </a:p>
                    <a:p>
                      <a:pPr>
                        <a:defRPr sz="1200"/>
                      </a:pPr>
                      <a:r>
                        <a:t>3. Click on Login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Email: user@example.com</a:t>
                      </a:r>
                    </a:p>
                    <a:p>
                      <a:pPr>
                        <a:defRPr sz="1200"/>
                      </a:pPr>
                      <a:r>
                        <a:t>Password: Correct123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User logged in and redirected to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User successfully logged in and redirected to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Navigate to login page</a:t>
                      </a:r>
                    </a:p>
                    <a:p>
                      <a:pPr>
                        <a:defRPr sz="1200"/>
                      </a:pPr>
                      <a:r>
                        <a:t>2. Enter invalid credentials</a:t>
                      </a:r>
                    </a:p>
                    <a:p>
                      <a:pPr>
                        <a:defRPr sz="1200"/>
                      </a:pPr>
                      <a:r>
                        <a:t>3. Click on Login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Email: user@example.com</a:t>
                      </a:r>
                    </a:p>
                    <a:p>
                      <a:pPr>
                        <a:defRPr sz="1200"/>
                      </a:pPr>
                      <a:r>
                        <a:t>Password: WrongPass123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Error message displayed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Error message: 'Invalid email or password'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Navigate to login page</a:t>
                      </a:r>
                    </a:p>
                    <a:p>
                      <a:pPr>
                        <a:defRPr sz="1200"/>
                      </a:pPr>
                      <a:r>
                        <a:t>2. Leave fields blank</a:t>
                      </a:r>
                    </a:p>
                    <a:p>
                      <a:pPr>
                        <a:defRPr sz="1200"/>
                      </a:pPr>
                      <a:r>
                        <a:t>3. Click on Login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Email: [blank]</a:t>
                      </a:r>
                    </a:p>
                    <a:p>
                      <a:pPr>
                        <a:defRPr sz="1200"/>
                      </a:pPr>
                      <a:r>
                        <a:t>Password: [blank]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Form validation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Error messages displayed for all required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Cases - User Registration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863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645920"/>
                <a:gridCol w="1554480"/>
                <a:gridCol w="1645920"/>
                <a:gridCol w="1645920"/>
                <a:gridCol w="914400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Test Steps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Test Data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Actual Result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Navigate to registration page</a:t>
                      </a:r>
                    </a:p>
                    <a:p>
                      <a:pPr>
                        <a:defRPr sz="1200"/>
                      </a:pPr>
                      <a:r>
                        <a:t>2. Fill all required fields</a:t>
                      </a:r>
                    </a:p>
                    <a:p>
                      <a:pPr>
                        <a:defRPr sz="1200"/>
                      </a:pPr>
                      <a:r>
                        <a:t>3. Click Register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Name: John Doe</a:t>
                      </a:r>
                    </a:p>
                    <a:p>
                      <a:pPr>
                        <a:defRPr sz="1200"/>
                      </a:pPr>
                      <a:r>
                        <a:t>Email: john@example.com</a:t>
                      </a:r>
                    </a:p>
                    <a:p>
                      <a:pPr>
                        <a:defRPr sz="1200"/>
                      </a:pPr>
                      <a:r>
                        <a:t>Password: SecurePass123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Account created with confirmation email 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Account created and confirmation email received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Navigate to registration page</a:t>
                      </a:r>
                    </a:p>
                    <a:p>
                      <a:pPr>
                        <a:defRPr sz="1200"/>
                      </a:pPr>
                      <a:r>
                        <a:t>2. Leave all fields empty</a:t>
                      </a:r>
                    </a:p>
                    <a:p>
                      <a:pPr>
                        <a:defRPr sz="1200"/>
                      </a:pPr>
                      <a:r>
                        <a:t>3. Click Register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All fields 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Error message displayed for each required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Error message displayed: 'All fields are required'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Navigate to registration page</a:t>
                      </a:r>
                    </a:p>
                    <a:p>
                      <a:pPr>
                        <a:defRPr sz="1200"/>
                      </a:pPr>
                      <a:r>
                        <a:t>2. Enter invalid email format</a:t>
                      </a:r>
                    </a:p>
                    <a:p>
                      <a:pPr>
                        <a:defRPr sz="1200"/>
                      </a:pPr>
                      <a:r>
                        <a:t>3. Click Register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Name: Jane Smith</a:t>
                      </a:r>
                    </a:p>
                    <a:p>
                      <a:pPr>
                        <a:defRPr sz="1200"/>
                      </a:pPr>
                      <a:r>
                        <a:t>Email: jane.emailcom</a:t>
                      </a:r>
                    </a:p>
                    <a:p>
                      <a:pPr>
                        <a:defRPr sz="1200"/>
                      </a:pPr>
                      <a:r>
                        <a:t>Password: Pass123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Validation error shown for email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Validation error: 'Please enter a valid email address'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Cases - Product Search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863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645920"/>
                <a:gridCol w="1554480"/>
                <a:gridCol w="1645920"/>
                <a:gridCol w="1645920"/>
                <a:gridCol w="914400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Test Steps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Test Data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Actual Result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Navigate to search bar</a:t>
                      </a:r>
                    </a:p>
                    <a:p>
                      <a:pPr>
                        <a:defRPr sz="1200"/>
                      </a:pPr>
                      <a:r>
                        <a:t>2. Enter valid search term</a:t>
                      </a:r>
                    </a:p>
                    <a:p>
                      <a:pPr>
                        <a:defRPr sz="1200"/>
                      </a:pPr>
                      <a:r>
                        <a:t>3. Press search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Search term: 'smartphone'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Relevant smartphone products displayed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 smartphone products displayed with images and prices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Navigate to search bar</a:t>
                      </a:r>
                    </a:p>
                    <a:p>
                      <a:pPr>
                        <a:defRPr sz="1200"/>
                      </a:pPr>
                      <a:r>
                        <a:t>2. Enter search term with no matches</a:t>
                      </a:r>
                    </a:p>
                    <a:p>
                      <a:pPr>
                        <a:defRPr sz="1200"/>
                      </a:pPr>
                      <a:r>
                        <a:t>3. Press search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Search term: 'nonexistentitem123'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Empty results message shown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Message: 'No products match your search criteria'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Navigate to category menu</a:t>
                      </a:r>
                    </a:p>
                    <a:p>
                      <a:pPr>
                        <a:defRPr sz="1200"/>
                      </a:pPr>
                      <a:r>
                        <a:t>2. Select Electronics category</a:t>
                      </a:r>
                    </a:p>
                    <a:p>
                      <a:pPr>
                        <a:defRPr sz="1200"/>
                      </a:pPr>
                      <a:r>
                        <a:t>3. View filtered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Category: 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Products from Electronics category displayed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 Electronics products displayed correctly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Cases - Shopping Cart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863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645920"/>
                <a:gridCol w="1554480"/>
                <a:gridCol w="1645920"/>
                <a:gridCol w="1645920"/>
                <a:gridCol w="914400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Test Steps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Test Data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Actual Result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View product details</a:t>
                      </a:r>
                    </a:p>
                    <a:p>
                      <a:pPr>
                        <a:defRPr sz="1200"/>
                      </a:pPr>
                      <a:r>
                        <a:t>2. Click 'Add to Cart'</a:t>
                      </a:r>
                    </a:p>
                    <a:p>
                      <a:pPr>
                        <a:defRPr sz="1200"/>
                      </a:pPr>
                      <a:r>
                        <a:t>3. Verify cart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Product: Smartphone XYZ</a:t>
                      </a:r>
                    </a:p>
                    <a:p>
                      <a:pPr>
                        <a:defRPr sz="1200"/>
                      </a:pPr>
                      <a:r>
                        <a:t>Quantity: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added to cart with correct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successfully added to cart with price ₹15,999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View shopping cart</a:t>
                      </a:r>
                    </a:p>
                    <a:p>
                      <a:pPr>
                        <a:defRPr sz="1200"/>
                      </a:pPr>
                      <a:r>
                        <a:t>2. Update quantity to 3</a:t>
                      </a:r>
                    </a:p>
                    <a:p>
                      <a:pPr>
                        <a:defRPr sz="1200"/>
                      </a:pPr>
                      <a:r>
                        <a:t>3. Check total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Product: Smartphone XYZ</a:t>
                      </a:r>
                    </a:p>
                    <a:p>
                      <a:pPr>
                        <a:defRPr sz="1200"/>
                      </a:pPr>
                      <a:r>
                        <a:t>New Quantity: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Quantity updated and total price recalculated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Quantity updated to 3, total price ₹47,997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View shopping cart</a:t>
                      </a:r>
                    </a:p>
                    <a:p>
                      <a:pPr>
                        <a:defRPr sz="1200"/>
                      </a:pPr>
                      <a:r>
                        <a:t>2. Click 'Remove' button</a:t>
                      </a:r>
                    </a:p>
                    <a:p>
                      <a:pPr>
                        <a:defRPr sz="1200"/>
                      </a:pPr>
                      <a:r>
                        <a:t>3. Verify item removed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Product: Smartphone 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Item removed from 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Item successfully removed from cart, cart 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Cases - Checkout Process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863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645920"/>
                <a:gridCol w="1554480"/>
                <a:gridCol w="1645920"/>
                <a:gridCol w="1645920"/>
                <a:gridCol w="914400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Test Steps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Test Data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Actual Result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Add products to cart</a:t>
                      </a:r>
                    </a:p>
                    <a:p>
                      <a:pPr>
                        <a:defRPr sz="1200"/>
                      </a:pPr>
                      <a:r>
                        <a:t>2. Click 'Checkout' button</a:t>
                      </a:r>
                    </a:p>
                    <a:p>
                      <a:pPr>
                        <a:defRPr sz="1200"/>
                      </a:pPr>
                      <a:r>
                        <a:t>3. Enter shipping info</a:t>
                      </a:r>
                    </a:p>
                    <a:p>
                      <a:pPr>
                        <a:defRPr sz="1200"/>
                      </a:pPr>
                      <a:r>
                        <a:t>4. Select payment method</a:t>
                      </a:r>
                    </a:p>
                    <a:p>
                      <a:pPr>
                        <a:defRPr sz="1200"/>
                      </a:pPr>
                      <a:r>
                        <a:t>5. Confirm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Valid shipping &amp; payment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Order placed successfully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Order placed with confirmation #12345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Add products to cart</a:t>
                      </a:r>
                    </a:p>
                    <a:p>
                      <a:pPr>
                        <a:defRPr sz="1200"/>
                      </a:pPr>
                      <a:r>
                        <a:t>2. Click 'Checkout' button</a:t>
                      </a:r>
                    </a:p>
                    <a:p>
                      <a:pPr>
                        <a:defRPr sz="1200"/>
                      </a:pPr>
                      <a:r>
                        <a:t>3. Enter invalid card details</a:t>
                      </a:r>
                    </a:p>
                    <a:p>
                      <a:pPr>
                        <a:defRPr sz="1200"/>
                      </a:pPr>
                      <a:r>
                        <a:t>4. Attempt to confirm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Invalid card number: 1234 5678 9012 3456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Payment error displayed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Error: 'Invalid card number'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Add products to cart</a:t>
                      </a:r>
                    </a:p>
                    <a:p>
                      <a:pPr>
                        <a:defRPr sz="1200"/>
                      </a:pPr>
                      <a:r>
                        <a:t>2. Click 'Checkout' button</a:t>
                      </a:r>
                    </a:p>
                    <a:p>
                      <a:pPr>
                        <a:defRPr sz="1200"/>
                      </a:pPr>
                      <a:r>
                        <a:t>3. Leave shipping fields empty</a:t>
                      </a:r>
                    </a:p>
                    <a:p>
                      <a:pPr>
                        <a:defRPr sz="1200"/>
                      </a:pPr>
                      <a:r>
                        <a:t>4. Attempt to confirm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Empty shipping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Validation errors for required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Error messages shown for all required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Results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8288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Failed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Success Rate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User 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Product Browsing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83.3%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Shopping &amp; Checkout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83.3%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Admin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87.5%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API Endpoints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Overall System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88.9%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Aspects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2400">
                <a:solidFill>
                  <a:srgbClr val="2980B9"/>
                </a:solidFill>
              </a:defRPr>
            </a:pPr>
            <a:r>
              <a:t>Data Protection Measures</a:t>
            </a:r>
          </a:p>
          <a:p>
            <a:pPr algn="l">
              <a:defRPr sz="2000"/>
            </a:pPr>
            <a:r>
              <a:t>• Password encryption using strong hashing algorithms (bcrypt with salt)</a:t>
            </a:r>
          </a:p>
          <a:p>
            <a:pPr algn="l">
              <a:defRPr sz="2000"/>
            </a:pPr>
            <a:r>
              <a:t>• Sensitive data encryption in database (AES-256)</a:t>
            </a:r>
          </a:p>
          <a:p>
            <a:pPr algn="l">
              <a:defRPr sz="2000"/>
            </a:pPr>
            <a:r>
              <a:t>• Role-based access control mechanisms</a:t>
            </a:r>
          </a:p>
          <a:p>
            <a:pPr algn="l">
              <a:defRPr sz="2000"/>
            </a:pPr>
            <a:r>
              <a:t>• Session management and timeout controls</a:t>
            </a:r>
          </a:p>
          <a:p>
            <a:pPr algn="l">
              <a:defRPr sz="2000"/>
            </a:pPr>
            <a:r>
              <a:t>• Regular security audits and vulnerability scanning</a:t>
            </a:r>
          </a:p>
          <a:p>
            <a:pPr algn="l">
              <a:defRPr sz="2000"/>
            </a:pPr>
            <a:r>
              <a:t>• Two-factor authentication for admin access</a:t>
            </a:r>
          </a:p>
          <a:p>
            <a:pPr algn="l">
              <a:defRPr sz="2000"/>
            </a:pPr>
            <a:r>
              <a:t>• IP-based rate limiting to prevent brute force attacks</a:t>
            </a:r>
          </a:p>
          <a:p>
            <a:pPr algn="l">
              <a:defRPr sz="2000"/>
            </a:pPr>
            <a:r>
              <a:t>• Data loss prevention policies and backup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2400">
                <a:solidFill>
                  <a:srgbClr val="2980B9"/>
                </a:solidFill>
              </a:defRPr>
            </a:pPr>
            <a:r>
              <a:t>Security Implementation</a:t>
            </a:r>
          </a:p>
          <a:p>
            <a:pPr algn="l">
              <a:defRPr sz="2000"/>
            </a:pPr>
            <a:r>
              <a:t>• SQL Injection: Prepared statements and parameterized queries</a:t>
            </a:r>
          </a:p>
          <a:p>
            <a:pPr algn="l">
              <a:defRPr sz="2000"/>
            </a:pPr>
            <a:r>
              <a:t>• XSS Attacks: Output encoding and content security policy</a:t>
            </a:r>
          </a:p>
          <a:p>
            <a:pPr algn="l">
              <a:defRPr sz="2000"/>
            </a:pPr>
            <a:r>
              <a:t>• CSRF Attacks: Unique tokens for each session</a:t>
            </a:r>
          </a:p>
          <a:p>
            <a:pPr algn="l">
              <a:defRPr sz="2000"/>
            </a:pPr>
            <a:r>
              <a:t>• Session Hijacking: Secure cookies and session regeneration</a:t>
            </a:r>
          </a:p>
          <a:p>
            <a:pPr algn="l">
              <a:defRPr sz="2000"/>
            </a:pPr>
            <a:r>
              <a:t>• Brute Force: Account lockout and CAPTCHA integration</a:t>
            </a:r>
          </a:p>
          <a:p>
            <a:pPr algn="l">
              <a:defRPr sz="2000"/>
            </a:pPr>
            <a:r>
              <a:t>• Data Protection: PCI-DSS compliance for payment data</a:t>
            </a:r>
          </a:p>
          <a:p>
            <a:pPr algn="l">
              <a:defRPr sz="2000"/>
            </a:pPr>
            <a:r>
              <a:t>• Network Security: TLS 1.3 for all communications</a:t>
            </a:r>
          </a:p>
          <a:p>
            <a:pPr algn="l">
              <a:defRPr sz="2000"/>
            </a:pPr>
            <a:r>
              <a:t>• Infrastructure: Regular security patches and updates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Enhanced Deployment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Hosting: Deployed on HostingRaja with 99.9% uptime guarantee</a:t>
            </a:r>
          </a:p>
          <a:p>
            <a:pPr>
              <a:defRPr sz="1800"/>
            </a:pPr>
            <a:r>
              <a:t>• Server Configuration: Node.js server with Express.js framework</a:t>
            </a:r>
          </a:p>
          <a:p>
            <a:pPr>
              <a:defRPr sz="1800"/>
            </a:pPr>
            <a:r>
              <a:t>• Database: MySQL 8.0 with optimized query performance</a:t>
            </a:r>
          </a:p>
          <a:p>
            <a:pPr>
              <a:defRPr sz="1800"/>
            </a:pPr>
            <a:r>
              <a:t>• SSL Implementation: HTTPS encryption for secure data transmission</a:t>
            </a:r>
          </a:p>
          <a:p>
            <a:pPr>
              <a:defRPr sz="1800"/>
            </a:pPr>
            <a:r>
              <a:t>• Scalability: Load balancing for high traffic management</a:t>
            </a:r>
          </a:p>
          <a:p>
            <a:pPr>
              <a:defRPr sz="1800"/>
            </a:pPr>
            <a:r>
              <a:t>• Backup System: Daily automated backups with point-in-time recovery</a:t>
            </a:r>
          </a:p>
          <a:p>
            <a:pPr>
              <a:defRPr sz="1800"/>
            </a:pPr>
            <a:r>
              <a:t>• Monitoring: Real-time performance and security monitoring</a:t>
            </a:r>
          </a:p>
          <a:p>
            <a:pPr>
              <a:defRPr sz="1800"/>
            </a:pPr>
            <a:r>
              <a:t>• CDN Integration: Content delivery network for optimized asset delivery</a:t>
            </a:r>
          </a:p>
          <a:p>
            <a:pPr>
              <a:defRPr sz="1800"/>
            </a:pPr>
            <a:r>
              <a:t>• CI/CD Pipeline: Automated testing and deployment process</a:t>
            </a:r>
          </a:p>
          <a:p>
            <a:pPr>
              <a:defRPr sz="1800"/>
            </a:pPr>
            <a:r>
              <a:t>• Containerization: Docker for consistent deployment environments</a:t>
            </a:r>
          </a:p>
          <a:p>
            <a:pPr>
              <a:defRPr sz="1800"/>
            </a:pPr>
            <a:r>
              <a:t>• Microservices Architecture: For improved scalability and maintainability</a:t>
            </a:r>
          </a:p>
          <a:p>
            <a:pPr>
              <a:defRPr sz="1800"/>
            </a:pPr>
            <a:r>
              <a:t>• Multi-region Deployment: For improved global performance and failover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Mobile Applications - Native Android and iOS apps</a:t>
            </a:r>
          </a:p>
          <a:p>
            <a:pPr>
              <a:defRPr sz="2400"/>
            </a:pPr>
            <a:r>
              <a:t>AI-powered Recommendations - Personalized product suggestions</a:t>
            </a:r>
          </a:p>
          <a:p>
            <a:pPr>
              <a:defRPr sz="2400"/>
            </a:pPr>
            <a:r>
              <a:t>Advanced Analytics - Customer behavior and sales forecasting</a:t>
            </a:r>
          </a:p>
          <a:p>
            <a:pPr>
              <a:defRPr sz="2400"/>
            </a:pPr>
            <a:r>
              <a:t>Voice Commerce - Integration with voice assistants</a:t>
            </a:r>
          </a:p>
          <a:p>
            <a:pPr>
              <a:defRPr sz="2400"/>
            </a:pPr>
            <a:r>
              <a:t>Augmented Reality - Virtual product try-on experiences</a:t>
            </a:r>
          </a:p>
          <a:p>
            <a:pPr>
              <a:defRPr sz="2400"/>
            </a:pPr>
            <a:r>
              <a:t>Internationalization - Multi-language and multi-currency support</a:t>
            </a:r>
          </a:p>
          <a:p>
            <a:pPr>
              <a:defRPr sz="2400"/>
            </a:pPr>
            <a:r>
              <a:t>Marketplace Expansion - Platform for multiple vendors</a:t>
            </a:r>
          </a:p>
          <a:p>
            <a:pPr>
              <a:defRPr sz="2400"/>
            </a:pPr>
            <a:r>
              <a:t>Integration with Social Commerce - Buy directly from social platforms</a:t>
            </a:r>
          </a:p>
          <a:p>
            <a:pPr>
              <a:defRPr sz="2400"/>
            </a:pPr>
            <a:r>
              <a:t>Subscription-based Models - Recurring revenue streams</a:t>
            </a:r>
          </a:p>
          <a:p>
            <a:pPr>
              <a:defRPr sz="2400"/>
            </a:pPr>
            <a:r>
              <a:t>Blockchain Integration - For secure transactions and product authenticity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2C3E50"/>
                </a:solidFill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Hardik Kalathiya</a:t>
            </a:r>
          </a:p>
          <a:p>
            <a:r>
              <a:t>Department of Computer Science</a:t>
            </a:r>
          </a:p>
          <a:p>
            <a:r>
              <a:t>Gujarat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