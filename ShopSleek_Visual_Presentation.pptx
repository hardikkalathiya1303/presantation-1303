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sz="4400" b="1">
                <a:solidFill>
                  <a:srgbClr val="3498DB"/>
                </a:solidFill>
              </a:rPr>
              <a:t>ShopSleek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sz="2800" b="1">
                <a:solidFill>
                  <a:srgbClr val="2C3E50"/>
                </a:solidFill>
              </a:rPr>
              <a:t>E-commerce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</a:p>
          <a:p>
            <a:pPr algn="ctr"/>
            <a:r>
              <a:rPr sz="1400" b="1"/>
              <a:t>Developed by: Hardik Kalathiya</a:t>
            </a:r>
          </a:p>
          <a:p>
            <a:pPr algn="ctr"/>
            <a:r>
              <a:rPr sz="1400" b="1"/>
              <a:t>Under the Guidance of: Dr. Maitri Jhaveri</a:t>
            </a:r>
          </a:p>
          <a:p>
            <a:pPr algn="ctr"/>
            <a:r>
              <a:rPr sz="1400"/>
              <a:t>Department of Computer Science</a:t>
            </a:r>
          </a:p>
          <a:p>
            <a:pPr algn="ctr"/>
            <a:r>
              <a:rPr sz="1400"/>
              <a:t>Gujarat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4000" b="1">
                <a:solidFill>
                  <a:srgbClr val="3498DB"/>
                </a:solidFill>
              </a:rPr>
              <a:t>Project Overview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2286000" y="3200400"/>
            <a:ext cx="4572000" cy="457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200" b="1">
                <a:solidFill>
                  <a:srgbClr val="3498DB"/>
                </a:solidFill>
              </a:rPr>
              <a:t>ShopSleek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 sz="1800">
                <a:solidFill>
                  <a:srgbClr val="2C3E50"/>
                </a:solidFill>
              </a:rPr>
              <a:t>✓ Comprehensive e-commerce platform for seamless online shopping</a:t>
            </a:r>
          </a:p>
          <a:p>
            <a:pPr/>
            <a:r>
              <a:rPr sz="1800">
                <a:solidFill>
                  <a:srgbClr val="2C3E50"/>
                </a:solidFill>
              </a:rPr>
              <a:t>✓ Intuitive user interface with responsive design for all devices</a:t>
            </a:r>
          </a:p>
          <a:p>
            <a:pPr/>
            <a:r>
              <a:rPr sz="1800">
                <a:solidFill>
                  <a:srgbClr val="2C3E50"/>
                </a:solidFill>
              </a:rPr>
              <a:t>✓ Robust backend management capabilities for administrators</a:t>
            </a:r>
          </a:p>
          <a:p>
            <a:pPr/>
            <a:r>
              <a:rPr sz="1800">
                <a:solidFill>
                  <a:srgbClr val="2C3E50"/>
                </a:solidFill>
              </a:rPr>
              <a:t>✓ Secure transaction processing with industry-standard protocols</a:t>
            </a:r>
          </a:p>
          <a:p>
            <a:pPr/>
            <a:r>
              <a:rPr sz="1800">
                <a:solidFill>
                  <a:srgbClr val="2C3E50"/>
                </a:solidFill>
              </a:rPr>
              <a:t>✓ Comprehensive product search and filtering capabilities</a:t>
            </a:r>
          </a:p>
          <a:p>
            <a:pPr/>
            <a:r>
              <a:rPr sz="1800">
                <a:solidFill>
                  <a:srgbClr val="2C3E50"/>
                </a:solidFill>
              </a:rPr>
              <a:t>✓ Multi-vendor support with dedicated portals</a:t>
            </a:r>
          </a:p>
          <a:p>
            <a:pPr/>
            <a:r>
              <a:rPr sz="1800">
                <a:solidFill>
                  <a:srgbClr val="2C3E50"/>
                </a:solidFill>
              </a:rPr>
              <a:t>✓ Real-time analytics and reporting dashboard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4000" b="1">
                <a:solidFill>
                  <a:srgbClr val="3498DB"/>
                </a:solidFill>
              </a:rPr>
              <a:t>Key Features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2286000" y="3200400"/>
            <a:ext cx="4572000" cy="457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solidFill>
                  <a:srgbClr val="3498DB"/>
                </a:solidFill>
              </a:rP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  <a:p>
            <a:pPr algn="ctr"/>
            <a:r>
              <a:rPr b="1" sz="2000">
                <a:solidFill>
                  <a:srgbClr val="3498DB"/>
                </a:solidFill>
              </a:rPr>
              <a:t>Customer-Facing Features</a:t>
            </a:r>
          </a:p>
          <a:p/>
          <a:p>
            <a:pPr/>
            <a:r>
              <a:rPr sz="1600">
                <a:solidFill>
                  <a:srgbClr val="2C3E50"/>
                </a:solidFill>
              </a:rPr>
              <a:t>• Intuitive User Interface</a:t>
            </a:r>
          </a:p>
          <a:p>
            <a:pPr/>
            <a:r>
              <a:rPr sz="1600">
                <a:solidFill>
                  <a:srgbClr val="2C3E50"/>
                </a:solidFill>
              </a:rPr>
              <a:t>• Advanced Search &amp; Filtering</a:t>
            </a:r>
          </a:p>
          <a:p>
            <a:pPr/>
            <a:r>
              <a:rPr sz="1600">
                <a:solidFill>
                  <a:srgbClr val="2C3E50"/>
                </a:solidFill>
              </a:rPr>
              <a:t>• Secure Payment Processing</a:t>
            </a:r>
          </a:p>
          <a:p>
            <a:pPr/>
            <a:r>
              <a:rPr sz="1600">
                <a:solidFill>
                  <a:srgbClr val="2C3E50"/>
                </a:solidFill>
              </a:rPr>
              <a:t>• Order Management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  <a:p>
            <a:pPr algn="ctr"/>
            <a:r>
              <a:rPr b="1" sz="2000">
                <a:solidFill>
                  <a:srgbClr val="3498DB"/>
                </a:solidFill>
              </a:rPr>
              <a:t>Administrative Features</a:t>
            </a:r>
          </a:p>
          <a:p/>
          <a:p>
            <a:pPr/>
            <a:r>
              <a:rPr sz="1600">
                <a:solidFill>
                  <a:srgbClr val="2C3E50"/>
                </a:solidFill>
              </a:rPr>
              <a:t>• User Account Management</a:t>
            </a:r>
          </a:p>
          <a:p>
            <a:pPr/>
            <a:r>
              <a:rPr sz="1600">
                <a:solidFill>
                  <a:srgbClr val="2C3E50"/>
                </a:solidFill>
              </a:rPr>
              <a:t>• Admin Dashboard</a:t>
            </a:r>
          </a:p>
          <a:p>
            <a:pPr/>
            <a:r>
              <a:rPr sz="1600">
                <a:solidFill>
                  <a:srgbClr val="2C3E50"/>
                </a:solidFill>
              </a:rPr>
              <a:t>• Analytics &amp; Reporting</a:t>
            </a:r>
          </a:p>
          <a:p>
            <a:pPr/>
            <a:r>
              <a:rPr sz="1600">
                <a:solidFill>
                  <a:srgbClr val="2C3E50"/>
                </a:solidFill>
              </a:rPr>
              <a:t>• Multi-vendor Support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4000" b="1">
                <a:solidFill>
                  <a:srgbClr val="3498DB"/>
                </a:solidFill>
              </a:rPr>
              <a:t>System Architecture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2286000" y="3200400"/>
            <a:ext cx="4572000" cy="457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200" b="1">
                <a:solidFill>
                  <a:srgbClr val="3498DB"/>
                </a:solidFill>
              </a:rPr>
              <a:t>Architecture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 sz="1800">
                <a:solidFill>
                  <a:srgbClr val="2C3E50"/>
                </a:solidFill>
              </a:rPr>
              <a:t>➊ Presentation Layer: User interfaces, admin dashboards, and vendor panels</a:t>
            </a:r>
          </a:p>
          <a:p>
            <a:pPr/>
            <a:r>
              <a:rPr sz="1800">
                <a:solidFill>
                  <a:srgbClr val="2C3E50"/>
                </a:solidFill>
              </a:rPr>
              <a:t>➋ Application Layer: Business logic including user management, product catalog, order processing, and payment integration</a:t>
            </a:r>
          </a:p>
          <a:p>
            <a:pPr/>
            <a:r>
              <a:rPr sz="1800">
                <a:solidFill>
                  <a:srgbClr val="2C3E50"/>
                </a:solidFill>
              </a:rPr>
              <a:t>➌ Data Layer: MySQL database for structured data storage with robust query capabilities</a:t>
            </a:r>
          </a:p>
          <a:p>
            <a:pPr/>
            <a:r>
              <a:rPr sz="1800">
                <a:solidFill>
                  <a:srgbClr val="2C3E50"/>
                </a:solidFill>
              </a:rPr>
              <a:t>➍ Technology Stack: React.js, Node.js, Express.js, MySQL, and HostingRaja hosting infrastructure</a:t>
            </a:r>
          </a:p>
          <a:p>
            <a:pPr/>
            <a:r>
              <a:rPr sz="1800">
                <a:solidFill>
                  <a:srgbClr val="2C3E50"/>
                </a:solidFill>
              </a:rPr>
              <a:t>➎ Designed for scalability, maintainability, and security through component isolation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4000" b="1">
                <a:solidFill>
                  <a:srgbClr val="3498DB"/>
                </a:solidFill>
              </a:rPr>
              <a:t>Test Cases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2286000" y="3200400"/>
            <a:ext cx="4572000" cy="457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2800" b="1">
                <a:solidFill>
                  <a:srgbClr val="3498DB"/>
                </a:solidFill>
              </a:rPr>
              <a:t>User Authentication Test Cases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371600"/>
          <a:ext cx="859536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1828800"/>
                <a:gridCol w="1554480"/>
                <a:gridCol w="1645920"/>
                <a:gridCol w="2103120"/>
                <a:gridCol w="914400"/>
              </a:tblGrid>
              <a:tr h="914400"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ID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Test Steps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Test Data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Expected Result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Actual Result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sz="1000"/>
                        <a:t>TC01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/>
                        <a:t>Login with valid credentials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/>
                        <a:t>user@example.com</a:t>
                      </a:r>
                    </a:p>
                    <a:p>
                      <a:pPr algn="l"/>
                      <a:r>
                        <a:rPr sz="1000"/>
                        <a:t>Correct123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/>
                        <a:t>Successful login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/>
                        <a:t>User logged in and redirected to dashboard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7AE60"/>
                          </a:solidFill>
                        </a:rPr>
                        <a:t>Pass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sz="1000"/>
                        <a:t>TC02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/>
                        <a:t>Login with invalid credentials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/>
                        <a:t>user@example.com</a:t>
                      </a:r>
                    </a:p>
                    <a:p>
                      <a:pPr algn="l"/>
                      <a:r>
                        <a:rPr sz="1000"/>
                        <a:t>WrongPass123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/>
                        <a:t>Error message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/>
                        <a:t>Error: 'Invalid email or password'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7AE60"/>
                          </a:solidFill>
                        </a:rPr>
                        <a:t>Pass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sz="1000"/>
                        <a:t>TC03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/>
                        <a:t>Empty login fields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/>
                        <a:t>Email: [blank]</a:t>
                      </a:r>
                    </a:p>
                    <a:p>
                      <a:pPr algn="l"/>
                      <a:r>
                        <a:rPr sz="1000"/>
                        <a:t>Password: [blank]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/>
                        <a:t>Form validation errors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/>
                        <a:t>Error messages for required fields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7AE60"/>
                          </a:solidFill>
                        </a:rPr>
                        <a:t>Pass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sz="1000"/>
                        <a:t>TC04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/>
                        <a:t>Valid registration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/>
                        <a:t>Name: John Doe</a:t>
                      </a:r>
                    </a:p>
                    <a:p>
                      <a:pPr algn="l"/>
                      <a:r>
                        <a:rPr sz="1000"/>
                        <a:t>Email: john@example.com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/>
                        <a:t>Account created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/>
                        <a:t>Account created and email sent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7AE60"/>
                          </a:solidFill>
                        </a:rPr>
                        <a:t>Pass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2800" b="1">
                <a:solidFill>
                  <a:srgbClr val="3498DB"/>
                </a:solidFill>
              </a:rPr>
              <a:t>Product Search Test Cases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371600"/>
          <a:ext cx="859536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1828800"/>
                <a:gridCol w="1554480"/>
                <a:gridCol w="1645920"/>
                <a:gridCol w="2103120"/>
                <a:gridCol w="914400"/>
              </a:tblGrid>
              <a:tr h="914400"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ID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Test Steps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Test Data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Expected Result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Actual Result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sz="1000"/>
                        <a:t>TC07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/>
                        <a:t>Search with valid 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/>
                        <a:t>Search: 'smartphone'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/>
                        <a:t>Relevant products displayed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/>
                        <a:t>5 smartphone products displayed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7AE60"/>
                          </a:solidFill>
                        </a:rPr>
                        <a:t>Pass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sz="1000"/>
                        <a:t>TC08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/>
                        <a:t>Search with no matches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/>
                        <a:t>Search: 'nonexistentitem123'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/>
                        <a:t>Empty results message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/>
                        <a:t>Message: 'No products match'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7AE60"/>
                          </a:solidFill>
                        </a:rPr>
                        <a:t>Pass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sz="1000"/>
                        <a:t>TC09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/>
                        <a:t>Category filtering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/>
                        <a:t>Category: Electronics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/>
                        <a:t>Electronics products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/>
                        <a:t>15 Electronics products displayed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7AE60"/>
                          </a:solidFill>
                        </a:rPr>
                        <a:t>Pass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sz="1000"/>
                        <a:t>TC12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/>
                        <a:t>Out of stock handling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/>
                        <a:t>Product: 'Limited Edition'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/>
                        <a:t>Disabled add button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/>
                        <a:t>Incorrect behavior observed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E74C3C"/>
                          </a:solidFill>
                        </a:rPr>
                        <a:t>Fail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2800" b="1">
                <a:solidFill>
                  <a:srgbClr val="3498DB"/>
                </a:solidFill>
              </a:rPr>
              <a:t>Shopping Cart Test Cases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371600"/>
          <a:ext cx="859536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1828800"/>
                <a:gridCol w="1554480"/>
                <a:gridCol w="1645920"/>
                <a:gridCol w="2103120"/>
                <a:gridCol w="914400"/>
              </a:tblGrid>
              <a:tr h="914400"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ID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Test Steps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Test Data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Expected Result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Actual Result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sz="1000"/>
                        <a:t>TC13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/>
                        <a:t>Add to cart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/>
                        <a:t>Product: Smartphone XYZ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/>
                        <a:t>Product added correctly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/>
                        <a:t>Added with price ₹15,999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7AE60"/>
                          </a:solidFill>
                        </a:rPr>
                        <a:t>Pass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sz="1000"/>
                        <a:t>TC14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/>
                        <a:t>Update 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/>
                        <a:t>Increase quantity to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/>
                        <a:t>Price recalculated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/>
                        <a:t>Total price ₹47,997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7AE60"/>
                          </a:solidFill>
                        </a:rPr>
                        <a:t>Pass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sz="1000"/>
                        <a:t>TC16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/>
                        <a:t>Multiple items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/>
                        <a:t>Smartphone, Headphones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/>
                        <a:t>Correct items and 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/>
                        <a:t>Both items with correct 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7AE60"/>
                          </a:solidFill>
                        </a:rPr>
                        <a:t>Pass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sz="1000"/>
                        <a:t>TC18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/>
                        <a:t>Stock limitation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/>
                        <a:t>Limited stock: 2, Request: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/>
                        <a:t>System limits 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/>
                        <a:t>Error: 'Only 2 available'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7AE60"/>
                          </a:solidFill>
                        </a:rPr>
                        <a:t>Pass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4000" b="1">
                <a:solidFill>
                  <a:srgbClr val="3498DB"/>
                </a:solidFill>
              </a:rPr>
              <a:t>Security Aspects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2286000" y="3200400"/>
            <a:ext cx="4572000" cy="457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200" b="1">
                <a:solidFill>
                  <a:srgbClr val="3498DB"/>
                </a:solidFill>
              </a:rPr>
              <a:t>Security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 sz="1800">
                <a:solidFill>
                  <a:srgbClr val="2C3E50"/>
                </a:solidFill>
              </a:rPr>
              <a:t>🔒 User Authentication: Password hashing, two-factor authentication, and secure session management</a:t>
            </a:r>
          </a:p>
          <a:p>
            <a:pPr/>
            <a:r>
              <a:rPr sz="1800">
                <a:solidFill>
                  <a:srgbClr val="2C3E50"/>
                </a:solidFill>
              </a:rPr>
              <a:t>🔒 Data Encryption: AES-256 encryption for sensitive data with secure key management</a:t>
            </a:r>
          </a:p>
          <a:p>
            <a:pPr/>
            <a:r>
              <a:rPr sz="1800">
                <a:solidFill>
                  <a:srgbClr val="2C3E50"/>
                </a:solidFill>
              </a:rPr>
              <a:t>🔒 Access Control: Role-based permissions with principle of least privilege</a:t>
            </a:r>
          </a:p>
          <a:p>
            <a:pPr/>
            <a:r>
              <a:rPr sz="1800">
                <a:solidFill>
                  <a:srgbClr val="2C3E50"/>
                </a:solidFill>
              </a:rPr>
              <a:t>🔒 PCI-DSS Compliance: For secure payment card handling</a:t>
            </a:r>
          </a:p>
          <a:p>
            <a:pPr/>
            <a:r>
              <a:rPr sz="1800">
                <a:solidFill>
                  <a:srgbClr val="2C3E50"/>
                </a:solidFill>
              </a:rPr>
              <a:t>🔒 GDPR Compliance: For personal data protection and privacy</a:t>
            </a:r>
          </a:p>
          <a:p>
            <a:pPr/>
            <a:r>
              <a:rPr sz="1800">
                <a:solidFill>
                  <a:srgbClr val="2C3E50"/>
                </a:solidFill>
              </a:rPr>
              <a:t>🔒 Regular Security Audits: Third-party penetration testing and vulnerability assessments</a:t>
            </a:r>
          </a:p>
          <a:p>
            <a:pPr/>
            <a:r>
              <a:rPr sz="1800">
                <a:solidFill>
                  <a:srgbClr val="2C3E50"/>
                </a:solidFill>
              </a:rPr>
              <a:t>🔒 Network Security: TLS 1.3, firewalls, and DDoS mitigation measures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4000" b="1">
                <a:solidFill>
                  <a:srgbClr val="3498DB"/>
                </a:solidFill>
              </a:rPr>
              <a:t>Deployment Architecture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2286000" y="3200400"/>
            <a:ext cx="4572000" cy="457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solidFill>
                  <a:srgbClr val="3498DB"/>
                </a:solidFill>
              </a:rPr>
              <a:t>Deployment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  <a:p>
            <a:pPr algn="ctr"/>
            <a:r>
              <a:rPr b="1" sz="2000">
                <a:solidFill>
                  <a:srgbClr val="3498DB"/>
                </a:solidFill>
              </a:rPr>
              <a:t>Infrastructure</a:t>
            </a:r>
          </a:p>
          <a:p/>
          <a:p>
            <a:pPr/>
            <a:r>
              <a:rPr sz="1600">
                <a:solidFill>
                  <a:srgbClr val="2C3E50"/>
                </a:solidFill>
              </a:rPr>
              <a:t>• High-availability cloud hosting</a:t>
            </a:r>
          </a:p>
          <a:p>
            <a:pPr/>
            <a:r>
              <a:rPr sz="1600">
                <a:solidFill>
                  <a:srgbClr val="2C3E50"/>
                </a:solidFill>
              </a:rPr>
              <a:t>• Load balancing with Nginx</a:t>
            </a:r>
          </a:p>
          <a:p>
            <a:pPr/>
            <a:r>
              <a:rPr sz="1600">
                <a:solidFill>
                  <a:srgbClr val="2C3E50"/>
                </a:solidFill>
              </a:rPr>
              <a:t>• Auto-scaling capabilities</a:t>
            </a:r>
          </a:p>
          <a:p>
            <a:pPr/>
            <a:r>
              <a:rPr sz="1600">
                <a:solidFill>
                  <a:srgbClr val="2C3E50"/>
                </a:solidFill>
              </a:rPr>
              <a:t>• Multiple application servers</a:t>
            </a:r>
          </a:p>
          <a:p>
            <a:pPr/>
            <a:r>
              <a:rPr sz="1600">
                <a:solidFill>
                  <a:srgbClr val="2C3E50"/>
                </a:solidFill>
              </a:rPr>
              <a:t>• Redundant database setup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  <a:p>
            <a:pPr algn="ctr"/>
            <a:r>
              <a:rPr b="1" sz="2000">
                <a:solidFill>
                  <a:srgbClr val="3498DB"/>
                </a:solidFill>
              </a:rPr>
              <a:t>Maintenance &amp; Monitoring</a:t>
            </a:r>
          </a:p>
          <a:p/>
          <a:p>
            <a:pPr/>
            <a:r>
              <a:rPr sz="1600">
                <a:solidFill>
                  <a:srgbClr val="2C3E50"/>
                </a:solidFill>
              </a:rPr>
              <a:t>• Master-slave DB replication</a:t>
            </a:r>
          </a:p>
          <a:p>
            <a:pPr/>
            <a:r>
              <a:rPr sz="1600">
                <a:solidFill>
                  <a:srgbClr val="2C3E50"/>
                </a:solidFill>
              </a:rPr>
              <a:t>• Redis for caching</a:t>
            </a:r>
          </a:p>
          <a:p>
            <a:pPr/>
            <a:r>
              <a:rPr sz="1600">
                <a:solidFill>
                  <a:srgbClr val="2C3E50"/>
                </a:solidFill>
              </a:rPr>
              <a:t>• Daily encrypted backups</a:t>
            </a:r>
          </a:p>
          <a:p>
            <a:pPr/>
            <a:r>
              <a:rPr sz="1600">
                <a:solidFill>
                  <a:srgbClr val="2C3E50"/>
                </a:solidFill>
              </a:rPr>
              <a:t>• ELK stack for monitoring</a:t>
            </a:r>
          </a:p>
          <a:p>
            <a:pPr/>
            <a:r>
              <a:rPr sz="1600">
                <a:solidFill>
                  <a:srgbClr val="2C3E50"/>
                </a:solidFill>
              </a:rPr>
              <a:t>• Automated deployment pipeline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4000" b="1">
                <a:solidFill>
                  <a:srgbClr val="3498DB"/>
                </a:solidFill>
              </a:rPr>
              <a:t>Future Scope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2286000" y="3200400"/>
            <a:ext cx="4572000" cy="457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200" b="1">
                <a:solidFill>
                  <a:srgbClr val="3498DB"/>
                </a:solidFill>
              </a:rP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 sz="1800">
                <a:solidFill>
                  <a:srgbClr val="2C3E50"/>
                </a:solidFill>
              </a:rPr>
              <a:t>⟹ Mobile Applications: Native Android and iOS apps with offline capabilities</a:t>
            </a:r>
          </a:p>
          <a:p>
            <a:pPr/>
            <a:r>
              <a:rPr sz="1800">
                <a:solidFill>
                  <a:srgbClr val="2C3E50"/>
                </a:solidFill>
              </a:rPr>
              <a:t>⟹ AI-powered Recommendations: Personalized product suggestions using machine learning</a:t>
            </a:r>
          </a:p>
          <a:p>
            <a:pPr/>
            <a:r>
              <a:rPr sz="1800">
                <a:solidFill>
                  <a:srgbClr val="2C3E50"/>
                </a:solidFill>
              </a:rPr>
              <a:t>⟹ Voice Commerce: Integration with popular voice assistants</a:t>
            </a:r>
          </a:p>
          <a:p>
            <a:pPr/>
            <a:r>
              <a:rPr sz="1800">
                <a:solidFill>
                  <a:srgbClr val="2C3E50"/>
                </a:solidFill>
              </a:rPr>
              <a:t>⟹ Augmented Reality: Virtual product try-on experiences</a:t>
            </a:r>
          </a:p>
          <a:p>
            <a:pPr/>
            <a:r>
              <a:rPr sz="1800">
                <a:solidFill>
                  <a:srgbClr val="2C3E50"/>
                </a:solidFill>
              </a:rPr>
              <a:t>⟹ Internationalization: Multi-language and multi-currency support</a:t>
            </a:r>
          </a:p>
          <a:p>
            <a:pPr/>
            <a:r>
              <a:rPr sz="1800">
                <a:solidFill>
                  <a:srgbClr val="2C3E50"/>
                </a:solidFill>
              </a:rPr>
              <a:t>⟹ Subscription-based Models: Recurring billing capabilities</a:t>
            </a:r>
          </a:p>
          <a:p>
            <a:pPr/>
            <a:r>
              <a:rPr sz="1800">
                <a:solidFill>
                  <a:srgbClr val="2C3E50"/>
                </a:solidFill>
              </a:rPr>
              <a:t>⟹ Social Commerce: Direct integration with social media platforms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sz="5400" b="1">
                <a:solidFill>
                  <a:srgbClr val="3498DB"/>
                </a:solidFill>
              </a:rP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sz="2400">
                <a:solidFill>
                  <a:srgbClr val="2C3E50"/>
                </a:solidFill>
              </a:rPr>
              <a:t>For more information, please contact:</a:t>
            </a:r>
          </a:p>
          <a:p>
            <a:r>
              <a:t>email@example.com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